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9144000" cy="137160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sz="2200">
                <a:solidFill>
                  <a:srgbClr val="FFFFFF"/>
                </a:solidFill>
              </a:rPr>
              <a:t>Soccer Analytics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FC0C5"/>
                </a:solidFill>
              </a:defRPr>
            </a:pPr>
            <a:r>
              <a:rPr sz="1200">
                <a:solidFill>
                  <a:srgbClr val="ECF2FF"/>
                </a:solidFill>
              </a:rPr>
              <a:t>Delivering Elite European Football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Karthik Mylavarapu | kmylavarapu3 | GT ID: 903754308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FC0C5"/>
                </a:solidFill>
              </a:defRPr>
            </a:pPr>
            <a:r>
              <a:rPr sz="1200">
                <a:solidFill>
                  <a:srgbClr val="ECF2FF"/>
                </a:solidFill>
              </a:rPr>
              <a:t>Georgia Tech MSA Spring 2026 Practicum — Trilemma Foundation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20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Goal</a:t>
            </a:r>
          </a:p>
          <a:p>
            <a:r>
              <a:rPr sz="1200">
                <a:solidFill>
                  <a:srgbClr val="ECF2FF"/>
                </a:solidFill>
              </a:rPr>
              <a:t>Open-source dashboard + pre-game / halftime prediction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StatsBomb: 3,464 matches, 12.2M events across 5 major European leagues</a:t>
            </a:r>
            <a:br/>
            <a:r>
              <a:rPr sz="1200">
                <a:solidFill>
                  <a:srgbClr val="ECF2FF"/>
                </a:solidFill>
              </a:rPr>
              <a:t>Polymarket: 8,549 markets, $3B+ trading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Track 2: Soccer Analytics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7772400" cy="1097280"/>
          </a:xfrm>
          <a:prstGeom prst="roundRect">
            <a:avLst/>
          </a:prstGeom>
          <a:solidFill>
            <a:srgbClr val="25264A"/>
          </a:solidFill>
          <a:ln w="25400"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ECF2FF"/>
                </a:solidFill>
              </a:rPr>
              <a:t>~4,000 lines of Python across analytics, prediction, market, and dashboard modules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20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840480" cy="4389120"/>
          </a:xfrm>
          <a:prstGeom prst="roundRect">
            <a:avLst/>
          </a:prstGeom>
          <a:solidFill>
            <a:srgbClr val="25264A"/>
          </a:solidFill>
          <a:ln w="2540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StatsBomb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5 Major European Leagues</a:t>
            </a:r>
            <a:br/>
            <a:r>
              <a:rPr sz="1200">
                <a:solidFill>
                  <a:srgbClr val="ECF2FF"/>
                </a:solidFill>
              </a:rPr>
              <a:t>Detailed Match Data</a:t>
            </a:r>
            <a:br/>
            <a:r>
              <a:rPr sz="1200">
                <a:solidFill>
                  <a:srgbClr val="ECF2FF"/>
                </a:solidFill>
              </a:rPr>
              <a:t>Event-Level Information</a:t>
            </a:r>
            <a:br/>
            <a:r>
              <a:rPr sz="1200">
                <a:solidFill>
                  <a:srgbClr val="ECF2FF"/>
                </a:solidFill>
              </a:rPr>
              <a:t>Player Lineups</a:t>
            </a:r>
            <a:br/>
            <a:r>
              <a:rPr sz="1200">
                <a:solidFill>
                  <a:srgbClr val="ECF2FF"/>
                </a:solidFill>
              </a:rPr>
              <a:t>360-Degree Tracking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280160"/>
            <a:ext cx="3840480" cy="4389120"/>
          </a:xfrm>
          <a:prstGeom prst="roundRect">
            <a:avLst/>
          </a:prstGeom>
          <a:solidFill>
            <a:srgbClr val="25264A"/>
          </a:solidFill>
          <a:ln w="2540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463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Polymarket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8288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Prediction Markets</a:t>
            </a:r>
            <a:br/>
            <a:r>
              <a:rPr sz="1200">
                <a:solidFill>
                  <a:srgbClr val="ECF2FF"/>
                </a:solidFill>
              </a:rPr>
              <a:t>Trade Volume &amp; Liquidity</a:t>
            </a:r>
            <a:br/>
            <a:r>
              <a:rPr sz="1200">
                <a:solidFill>
                  <a:srgbClr val="ECF2FF"/>
                </a:solidFill>
              </a:rPr>
              <a:t>Odds History</a:t>
            </a:r>
            <a:br/>
            <a:r>
              <a:rPr sz="1200">
                <a:solidFill>
                  <a:srgbClr val="ECF2FF"/>
                </a:solidFill>
              </a:rPr>
              <a:t>Token Prices</a:t>
            </a:r>
            <a:br/>
            <a:r>
              <a:rPr sz="1200">
                <a:solidFill>
                  <a:srgbClr val="ECF2FF"/>
                </a:solidFill>
              </a:rPr>
              <a:t>Market Metadata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43600"/>
            <a:ext cx="7863840" cy="640080"/>
          </a:xfrm>
          <a:prstGeom prst="roundRect">
            <a:avLst/>
          </a:prstGeom>
          <a:solidFill>
            <a:srgbClr val="B45309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Key Challenge: Team IDs NOT normalized across datasets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20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Data Processing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645920" cy="45720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Raw 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14600" y="1965960"/>
            <a:ext cx="182880" cy="182880"/>
          </a:xfrm>
          <a:prstGeom prst="rightArrow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1828800"/>
            <a:ext cx="1645920" cy="45720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874519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Entity Resolution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34840" y="1965960"/>
            <a:ext cx="182880" cy="182880"/>
          </a:xfrm>
          <a:prstGeom prst="rightArrow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1828800"/>
            <a:ext cx="1645920" cy="45720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874519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Feature Engineering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355080" y="1965960"/>
            <a:ext cx="182880" cy="182880"/>
          </a:xfrm>
          <a:prstGeom prst="rightArrow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1828800"/>
            <a:ext cx="1645920" cy="45720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874519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Modeling/Dashboard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60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5 Core Python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9260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• entity_resolution.py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461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• feature_engineering.py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661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• predictive_modeling.py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86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• market_comparison.py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062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• dashboard.py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949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~4,000 lines of code total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200">
                <a:solidFill>
                  <a:srgbClr val="FFFFFF"/>
                </a:solidFill>
              </a:rPr>
              <a:t>Entity Resolution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7772400" cy="640080"/>
          </a:xfrm>
          <a:prstGeom prst="roundRect">
            <a:avLst/>
          </a:prstGeom>
          <a:solidFill>
            <a:srgbClr val="25264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</a:defRPr>
            </a:pPr>
            <a:r>
              <a:rPr sz="1200">
                <a:solidFill>
                  <a:srgbClr val="ECF2FF"/>
                </a:solidFill>
              </a:rPr>
              <a:t>Challenge: "Arsenal FC" ≠ "arsenal" (and thousands of similar mismatches)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→ Name Normalization (case, punctuation)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→ Regex Extraction (team patterns)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→ Jaccard Similarity (fuzzy matching)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→ Manual Overrides (domain knowledge)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7772400" cy="1371600"/>
          </a:xfrm>
          <a:prstGeom prst="roundRect">
            <a:avLst/>
          </a:prstGeom>
          <a:solidFill>
            <a:srgbClr val="25264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rPr sz="1200">
                <a:solidFill>
                  <a:srgbClr val="ECF2FF"/>
                </a:solidFill>
              </a:rPr>
              <a:t>308 StatsBomb Teams → 1,699 Mappings → 1,863 Polymarket Mentions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20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Key Engineered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182880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Possession Chains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39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Sequence of events until turnover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74720" cy="182880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PPDA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39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Passes Per Defensive Action (pressing intensity)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79"/>
            <a:ext cx="3474720" cy="182880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Field Tilt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59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Final-third passing share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840479"/>
            <a:ext cx="3474720" cy="182880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Expected Threat (xT)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480559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12×8 positional value grid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200">
                <a:solidFill>
                  <a:srgbClr val="FFFFFF"/>
                </a:solidFill>
              </a:rPr>
              <a:t>EDA: StatsBomb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StatsBomb Dataset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657600" cy="164592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FC0C5"/>
                </a:solidFill>
              </a:defRPr>
            </a:pPr>
            <a:r>
              <a:rPr sz="1200">
                <a:solidFill>
                  <a:srgbClr val="ECF2FF"/>
                </a:solidFill>
              </a:rPr>
              <a:t>Pass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77.7%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737360"/>
            <a:ext cx="3657600" cy="164592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FC0C5"/>
                </a:solidFill>
              </a:defRPr>
            </a:pPr>
            <a:r>
              <a:rPr sz="1200">
                <a:solidFill>
                  <a:srgbClr val="ECF2FF"/>
                </a:solidFill>
              </a:rPr>
              <a:t>Total Shots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37743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88,023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79"/>
            <a:ext cx="3657600" cy="164592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233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FC0C5"/>
                </a:solidFill>
              </a:defRPr>
            </a:pPr>
            <a:r>
              <a:rPr sz="1200">
                <a:solidFill>
                  <a:srgbClr val="ECF2FF"/>
                </a:solidFill>
              </a:rPr>
              <a:t>Mean xG per 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8055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0.10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840479"/>
            <a:ext cx="3657600" cy="164592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40233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FC0C5"/>
                </a:solidFill>
              </a:defRPr>
            </a:pPr>
            <a:r>
              <a:rPr sz="1200">
                <a:solidFill>
                  <a:srgbClr val="ECF2FF"/>
                </a:solidFill>
              </a:rPr>
              <a:t>Avg Goals/Match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48055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2.85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Top Performer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Messi: 363.4 cumulative xG from 2,670 shots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Competition 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09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La Liga: Highest average goals per match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200">
                <a:solidFill>
                  <a:srgbClr val="FFFFFF"/>
                </a:solidFill>
              </a:rPr>
              <a:t>EDA: Polymarket Trading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Polymarket Trading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657600" cy="164592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FC0C5"/>
                </a:solidFill>
              </a:defRPr>
            </a:pPr>
            <a:r>
              <a:rPr sz="1200">
                <a:solidFill>
                  <a:srgbClr val="ECF2FF"/>
                </a:solidFill>
              </a:rPr>
              <a:t>Champions League Vol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&gt;$1B (33%)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737360"/>
            <a:ext cx="3657600" cy="164592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FC0C5"/>
                </a:solidFill>
              </a:defRPr>
            </a:pPr>
            <a:r>
              <a:rPr sz="1200">
                <a:solidFill>
                  <a:srgbClr val="ECF2FF"/>
                </a:solidFill>
              </a:rPr>
              <a:t>Peak Trading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37743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17:00-22:00 UTC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79"/>
            <a:ext cx="3657600" cy="164592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233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FC0C5"/>
                </a:solidFill>
              </a:defRPr>
            </a:pPr>
            <a:r>
              <a:rPr sz="1200">
                <a:solidFill>
                  <a:srgbClr val="ECF2FF"/>
                </a:solidFill>
              </a:rPr>
              <a:t>Buy vs Sell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8055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82% BUY / 18% SELL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840479"/>
            <a:ext cx="3657600" cy="164592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40233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FC0C5"/>
                </a:solidFill>
              </a:defRPr>
            </a:pPr>
            <a:r>
              <a:rPr sz="1200">
                <a:solidFill>
                  <a:srgbClr val="ECF2FF"/>
                </a:solidFill>
              </a:rPr>
              <a:t>Markets w/ 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48055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38%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200">
                <a:solidFill>
                  <a:srgbClr val="FFFFFF"/>
                </a:solidFill>
              </a:rPr>
              <a:t>Baseline Predictive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Baseline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Research Question: Does shot quality predict outcomes?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Model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goal_diff ~ xg_diff  (Ordinary Least Squares)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7772400" cy="2286000"/>
          </a:xfrm>
          <a:prstGeom prst="roundRect">
            <a:avLst/>
          </a:prstGeom>
          <a:solidFill>
            <a:srgbClr val="25264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Key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C0C5"/>
                </a:solidFill>
              </a:defRPr>
            </a:pPr>
            <a:r>
              <a:rPr sz="1200">
                <a:solidFill>
                  <a:srgbClr val="ECF2FF"/>
                </a:solidFill>
              </a:rPr>
              <a:t>Slope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57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1.055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C0C5"/>
                </a:solidFill>
              </a:defRPr>
            </a:pPr>
            <a:r>
              <a:rPr sz="1200">
                <a:solidFill>
                  <a:srgbClr val="ECF2FF"/>
                </a:solidFill>
              </a:rPr>
              <a:t>Intercept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069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≈0.045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C0C5"/>
                </a:solidFill>
              </a:defRPr>
            </a:pPr>
            <a:r>
              <a:rPr sz="1200">
                <a:solidFill>
                  <a:srgbClr val="ECF2FF"/>
                </a:solidFill>
              </a:rPr>
              <a:t>R² (Variance Explained)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480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0.475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Interpretation: A single xG feature explains 47.5% of goal difference variance—strong validation of industry consensus.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Systematic Model Ladder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9776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Validated Model Ladder</a:t>
            </a:r>
          </a:p>
          <a:p>
            <a:r>
              <a:rPr sz="1200">
                <a:solidFill>
                  <a:srgbClr val="ECF2FF"/>
                </a:solidFill>
              </a:rPr>
              <a:t>ELO baseline: R² = 0.242</a:t>
            </a:r>
          </a:p>
          <a:p>
            <a:r>
              <a:rPr sz="1200">
                <a:solidFill>
                  <a:srgbClr val="ECF2FF"/>
                </a:solidFill>
              </a:rPr>
              <a:t>xG baseline: R² = 0.477</a:t>
            </a:r>
          </a:p>
          <a:p>
            <a:r>
              <a:rPr sz="1200">
                <a:solidFill>
                  <a:srgbClr val="ECF2FF"/>
                </a:solidFill>
              </a:rPr>
              <a:t>Full-match tactical OLS: R² = 0.582</a:t>
            </a:r>
          </a:p>
          <a:p>
            <a:r>
              <a:rPr sz="1200">
                <a:solidFill>
                  <a:srgbClr val="ECF2FF"/>
                </a:solidFill>
              </a:rPr>
              <a:t>Halftime score: R² = 0.542</a:t>
            </a:r>
          </a:p>
          <a:p>
            <a:r>
              <a:rPr sz="1200">
                <a:solidFill>
                  <a:srgbClr val="ECF2FF"/>
                </a:solidFill>
              </a:rPr>
              <a:t>Halftime live OLS: R² = 0.610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234440"/>
            <a:ext cx="39776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Feature Sets</a:t>
            </a:r>
          </a:p>
          <a:p>
            <a:r>
              <a:rPr sz="1200">
                <a:solidFill>
                  <a:srgbClr val="ECF2FF"/>
                </a:solidFill>
              </a:rPr>
              <a:t>Pre-match: ELO</a:t>
            </a:r>
          </a:p>
          <a:p>
            <a:r>
              <a:rPr sz="1200">
                <a:solidFill>
                  <a:srgbClr val="ECF2FF"/>
                </a:solidFill>
              </a:rPr>
              <a:t>Full-match: xG + tactical metrics</a:t>
            </a:r>
          </a:p>
          <a:p>
            <a:r>
              <a:rPr sz="1200">
                <a:solidFill>
                  <a:srgbClr val="ECF2FF"/>
                </a:solidFill>
              </a:rPr>
              <a:t>Halftime: score + xG + momentum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88920"/>
            <a:ext cx="39776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Office-Hours Direction</a:t>
            </a:r>
          </a:p>
          <a:p>
            <a:r>
              <a:rPr sz="1200">
                <a:solidFill>
                  <a:srgbClr val="ECF2FF"/>
                </a:solidFill>
              </a:rPr>
              <a:t>Start simple</a:t>
            </a:r>
          </a:p>
          <a:p>
            <a:r>
              <a:rPr sz="1200">
                <a:solidFill>
                  <a:srgbClr val="ECF2FF"/>
                </a:solidFill>
              </a:rPr>
              <a:t>Increase complexity gradually</a:t>
            </a:r>
          </a:p>
          <a:p>
            <a:r>
              <a:rPr sz="1200">
                <a:solidFill>
                  <a:srgbClr val="ECF2FF"/>
                </a:solidFill>
              </a:rPr>
              <a:t>Focus on halftime / live state</a:t>
            </a:r>
          </a:p>
          <a:p>
            <a:r>
              <a:rPr sz="1200">
                <a:solidFill>
                  <a:srgbClr val="ECF2FF"/>
                </a:solidFill>
              </a:rPr>
              <a:t>Study unstable leads and upsets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788920"/>
            <a:ext cx="39776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Validation</a:t>
            </a:r>
          </a:p>
          <a:p>
            <a:r>
              <a:rPr sz="1200">
                <a:solidFill>
                  <a:srgbClr val="ECF2FF"/>
                </a:solidFill>
              </a:rPr>
              <a:t>Forward-chaining temporal CV</a:t>
            </a:r>
          </a:p>
          <a:p>
            <a:r>
              <a:rPr sz="1200">
                <a:solidFill>
                  <a:srgbClr val="ECF2FF"/>
                </a:solidFill>
              </a:rPr>
              <a:t>Top 5 features: xG, shots on target, field tilt, ELO, PPDA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12080"/>
            <a:ext cx="7772400" cy="91440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160520"/>
            <a:ext cx="79552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Takeaway</a:t>
            </a:r>
          </a:p>
          <a:p>
            <a:r>
              <a:rPr sz="1200">
                <a:solidFill>
                  <a:srgbClr val="ECF2FF"/>
                </a:solidFill>
              </a:rPr>
              <a:t>Halftime state gives the strongest practical predictive edge.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Validated Results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Model Performance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A1B3A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F49D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A1B3A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F49D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A1B3A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F49D5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Baseline (xG only)</a:t>
                      </a:r>
                    </a:p>
                  </a:txBody>
                  <a:tcPr>
                    <a:solidFill>
                      <a:srgbClr val="2526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0.475</a:t>
                      </a:r>
                    </a:p>
                  </a:txBody>
                  <a:tcPr>
                    <a:solidFill>
                      <a:srgbClr val="2526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Single feature</a:t>
                      </a:r>
                    </a:p>
                  </a:txBody>
                  <a:tcPr>
                    <a:solidFill>
                      <a:srgbClr val="2526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Multi-feature (8 features)</a:t>
                      </a:r>
                    </a:p>
                  </a:txBody>
                  <a:tcPr>
                    <a:solidFill>
                      <a:srgbClr val="1F21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0.55–0.60</a:t>
                      </a:r>
                    </a:p>
                  </a:txBody>
                  <a:tcPr>
                    <a:solidFill>
                      <a:srgbClr val="1F21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Tactical metrics</a:t>
                      </a:r>
                    </a:p>
                  </a:txBody>
                  <a:tcPr>
                    <a:solidFill>
                      <a:srgbClr val="1F21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Forward Selection</a:t>
                      </a:r>
                    </a:p>
                  </a:txBody>
                  <a:tcPr>
                    <a:solidFill>
                      <a:srgbClr val="2526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0.54–0.58</a:t>
                      </a:r>
                    </a:p>
                  </a:txBody>
                  <a:tcPr>
                    <a:solidFill>
                      <a:srgbClr val="2526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Top 5 features</a:t>
                      </a:r>
                    </a:p>
                  </a:txBody>
                  <a:tcPr>
                    <a:solidFill>
                      <a:srgbClr val="2526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5-fold CV</a:t>
                      </a:r>
                    </a:p>
                  </a:txBody>
                  <a:tcPr>
                    <a:solidFill>
                      <a:srgbClr val="1F21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0.52 ± 0.04</a:t>
                      </a:r>
                    </a:p>
                  </a:txBody>
                  <a:tcPr>
                    <a:solidFill>
                      <a:srgbClr val="1F21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Temporal ordering</a:t>
                      </a:r>
                    </a:p>
                  </a:txBody>
                  <a:tcPr>
                    <a:solidFill>
                      <a:srgbClr val="1F214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7548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Takeaway</a:t>
            </a:r>
          </a:p>
          <a:p>
            <a:r>
              <a:rPr sz="1200">
                <a:solidFill>
                  <a:srgbClr val="ECF2FF"/>
                </a:solidFill>
              </a:rPr>
              <a:t>ELO is useful before kickoff. xG dominates full-match prediction. Halftime live is strongest overall.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Key Insight</a:t>
            </a:r>
          </a:p>
          <a:p>
            <a:r>
              <a:rPr sz="1200">
                <a:solidFill>
                  <a:srgbClr val="ECF2FF"/>
                </a:solidFill>
              </a:rPr>
              <a:t>ELO is useful before kickoff, xG dominates full-match prediction, and the halftime live model is strongest overall (R² = 0.610).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200">
                <a:solidFill>
                  <a:srgbClr val="FFFFFF"/>
                </a:solidFill>
              </a:rPr>
              <a:t>Market Comparison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Prediction Markets vs. Event-Derived Probabilities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Approach</a:t>
            </a:r>
          </a:p>
          <a:p>
            <a:r>
              <a:rPr sz="1200">
                <a:solidFill>
                  <a:srgbClr val="ECF2FF"/>
                </a:solidFill>
              </a:rPr>
              <a:t>Link StatsBomb matches to candidate Polymarket markets</a:t>
            </a:r>
          </a:p>
          <a:p>
            <a:r>
              <a:rPr sz="1200">
                <a:solidFill>
                  <a:srgbClr val="ECF2FF"/>
                </a:solidFill>
              </a:rPr>
              <a:t>Convert xG to Poisson win/draw/loss probabilities</a:t>
            </a:r>
          </a:p>
          <a:p>
            <a:r>
              <a:rPr sz="1200">
                <a:solidFill>
                  <a:srgbClr val="ECF2FF"/>
                </a:solidFill>
              </a:rPr>
              <a:t>Compare model and market probabilities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7772400" cy="2560320"/>
          </a:xfrm>
          <a:prstGeom prst="roundRect">
            <a:avLst/>
          </a:prstGeom>
          <a:solidFill>
            <a:srgbClr val="25264A"/>
          </a:solidFill>
          <a:ln w="2540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Key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Key Findings</a:t>
            </a:r>
          </a:p>
          <a:p>
            <a:r>
              <a:rPr sz="1200">
                <a:solidFill>
                  <a:srgbClr val="ECF2FF"/>
                </a:solidFill>
              </a:rPr>
              <a:t>Linked candidate matches: 2,781</a:t>
            </a:r>
          </a:p>
          <a:p>
            <a:r>
              <a:rPr sz="1200">
                <a:solidFill>
                  <a:srgbClr val="ECF2FF"/>
                </a:solidFill>
              </a:rPr>
              <a:t>Model-only Brier score: 0.165</a:t>
            </a:r>
          </a:p>
          <a:p>
            <a:r>
              <a:rPr sz="1200">
                <a:solidFill>
                  <a:srgbClr val="ECF2FF"/>
                </a:solidFill>
              </a:rPr>
              <a:t>Liquid markets are harder to beat</a:t>
            </a:r>
          </a:p>
          <a:p>
            <a:r>
              <a:rPr sz="1200">
                <a:solidFill>
                  <a:srgbClr val="ECF2FF"/>
                </a:solidFill>
              </a:rPr>
              <a:t>Thin markets remain the best place to look for inefficiencies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Takeaway</a:t>
            </a:r>
          </a:p>
          <a:p>
            <a:r>
              <a:rPr sz="1200">
                <a:solidFill>
                  <a:srgbClr val="ECF2FF"/>
                </a:solidFill>
              </a:rPr>
              <a:t>The market layer is useful for comparison and calibration, but not a guaranteed source of easy alpha.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Interactive Dashboard + Prediction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Interactive Dash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6 Main Tabs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→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→ Match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→ Team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39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→ Player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79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→ Tactical Metrics</a:t>
            </a:r>
          </a:p>
          <a:p>
            <a:r>
              <a:rPr sz="1200">
                <a:solidFill>
                  <a:srgbClr val="ECF2FF"/>
                </a:solidFill>
              </a:rPr>
              <a:t>→ Prediction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Key Interactive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Key Interactive Features</a:t>
            </a:r>
          </a:p>
          <a:p>
            <a:r>
              <a:rPr sz="1200">
                <a:solidFill>
                  <a:srgbClr val="ECF2FF"/>
                </a:solidFill>
              </a:rPr>
              <a:t>xG flow</a:t>
            </a:r>
          </a:p>
          <a:p>
            <a:r>
              <a:rPr sz="1200">
                <a:solidFill>
                  <a:srgbClr val="ECF2FF"/>
                </a:solidFill>
              </a:rPr>
              <a:t>Shot maps</a:t>
            </a:r>
          </a:p>
          <a:p>
            <a:r>
              <a:rPr sz="1200">
                <a:solidFill>
                  <a:srgbClr val="ECF2FF"/>
                </a:solidFill>
              </a:rPr>
              <a:t>Tactical comparisons</a:t>
            </a:r>
          </a:p>
          <a:p>
            <a:r>
              <a:rPr sz="1200">
                <a:solidFill>
                  <a:srgbClr val="ECF2FF"/>
                </a:solidFill>
              </a:rPr>
              <a:t>Model ladder comparison</a:t>
            </a:r>
          </a:p>
          <a:p>
            <a:r>
              <a:rPr sz="1200">
                <a:solidFill>
                  <a:srgbClr val="ECF2FF"/>
                </a:solidFill>
              </a:rPr>
              <a:t>Halftime score vs xG diagnostics</a:t>
            </a:r>
          </a:p>
          <a:p>
            <a:r>
              <a:rPr sz="1200">
                <a:solidFill>
                  <a:srgbClr val="ECF2FF"/>
                </a:solidFill>
              </a:rPr>
              <a:t>Lead-collapse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Prediction Lab</a:t>
            </a:r>
          </a:p>
          <a:p>
            <a:r>
              <a:rPr sz="1200">
                <a:solidFill>
                  <a:srgbClr val="ECF2FF"/>
                </a:solidFill>
              </a:rPr>
              <a:t>Loads cached match-level features so prediction views stay fast and reproducible.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7772400" cy="73152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Built with Plotly Dash • Filterable by competition / season / team • Prediction features loaded from a cached 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7772400" cy="1280160"/>
          </a:xfrm>
          <a:prstGeom prst="roundRect">
            <a:avLst/>
          </a:prstGeom>
          <a:solidFill>
            <a:srgbClr val="25264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ECF2FF"/>
                </a:solidFill>
              </a:rPr>
              <a:t>ELO Is the Clean Pre-Match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R² = 0.242 before kickoff. Useful benchmark, but not the strongest model once the match begins.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7772400" cy="1280160"/>
          </a:xfrm>
          <a:prstGeom prst="roundRect">
            <a:avLst/>
          </a:prstGeom>
          <a:solidFill>
            <a:srgbClr val="25264A"/>
          </a:solidFill>
          <a:ln w="2540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ECF2FF"/>
                </a:solidFill>
              </a:rPr>
              <a:t>Halftime Is the Best Predictive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Halftime score reaches R² = 0.542. Halftime live model reaches R² = 0.610.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7772400" cy="1280160"/>
          </a:xfrm>
          <a:prstGeom prst="roundRect">
            <a:avLst/>
          </a:prstGeom>
          <a:solidFill>
            <a:srgbClr val="25264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ECF2FF"/>
                </a:solidFill>
              </a:rPr>
              <a:t>Score and xG Disagreement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Halftime score and halftime xG disagree on the leader in 11.3% of matches. Halftime leaders still fail to win 22.4% of the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32120"/>
            <a:ext cx="7772400" cy="1280160"/>
          </a:xfrm>
          <a:prstGeom prst="roundRect">
            <a:avLst/>
          </a:prstGeom>
          <a:solidFill>
            <a:srgbClr val="25264A"/>
          </a:solidFill>
          <a:ln w="25400"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ECF2FF"/>
                </a:solidFill>
              </a:rPr>
              <a:t>Open-Source Stack Is Enough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Public data + interpretable models + Dash are enough to build a credible soccer analytics product.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200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rPr sz="1200">
                <a:solidFill>
                  <a:srgbClr val="ECF2FF"/>
                </a:solidFill>
              </a:rPr>
              <a:t>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• StatsBomb covers select competitions only (not all leagues/divisions)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• Entity resolution imperfect for smaller clubs (data quality bias)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• Poisson model assumes independent scoring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39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• Cross-validation limited by temporal dependencies in sports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rPr sz="1200">
                <a:solidFill>
                  <a:srgbClr val="ECF2FF"/>
                </a:solidFill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→ Player-level Expected Threat (xT)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79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→ Pass networks and positional dynamics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→ Transformer models for sequential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59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→ Real-time data feeds and model updates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200">
                <a:solidFill>
                  <a:srgbClr val="FFFFFF"/>
                </a:solidFill>
              </a:rPr>
              <a:t>Deliverables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9D52"/>
                </a:solidFill>
              </a:defRPr>
            </a:pPr>
            <a:r>
              <a:rPr sz="1200">
                <a:solidFill>
                  <a:srgbClr val="ECF2FF"/>
                </a:solidFill>
              </a:rPr>
              <a:t>Project Deliverables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7772400" cy="68580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Public GitHub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FC0C5"/>
                </a:solidFill>
              </a:defRPr>
            </a:pPr>
            <a:r>
              <a:rPr sz="1200">
                <a:solidFill>
                  <a:srgbClr val="ECF2FF"/>
                </a:solidFill>
              </a:rPr>
              <a:t>github.com/kmylavarapu3/soccer-analytics-capstone-template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7772400" cy="68580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5+ Python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79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FC0C5"/>
                </a:solidFill>
              </a:defRPr>
            </a:pPr>
            <a:r>
              <a:rPr sz="1200">
                <a:solidFill>
                  <a:srgbClr val="ECF2FF"/>
                </a:solidFill>
              </a:rPr>
              <a:t>~4,000 lines of production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7772400" cy="68580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Interactive Dash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40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6 tabs, dark theme, cached prediction features, real-time filters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7772400" cy="68580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79392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Educational Notebooks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FC0C5"/>
                </a:solidFill>
              </a:defRPr>
            </a:pPr>
            <a:r>
              <a:rPr sz="1200">
                <a:solidFill>
                  <a:srgbClr val="ECF2FF"/>
                </a:solidFill>
              </a:rPr>
              <a:t>Exploratory data analysis &amp; methodology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29200"/>
            <a:ext cx="7772400" cy="685800"/>
          </a:xfrm>
          <a:prstGeom prst="roundRect">
            <a:avLst/>
          </a:prstGeom>
          <a:solidFill>
            <a:srgbClr val="25264A"/>
          </a:solidFill>
          <a:ln w="19050">
            <a:solidFill>
              <a:srgbClr val="759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02352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Program Report + Public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CF2FF"/>
                </a:solidFill>
              </a:rPr>
              <a:t>Formal report for the program + dashboard as the public-facing deliverable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49D52"/>
          </a:solidFill>
          <a:ln>
            <a:solidFill>
              <a:srgbClr val="F49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49D52"/>
                </a:solidFill>
              </a:defRPr>
            </a:pPr>
            <a:r>
              <a:rPr sz="220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59ACE"/>
                </a:solidFill>
              </a:defRPr>
            </a:pPr>
            <a:r>
              <a:rPr sz="1200">
                <a:solidFill>
                  <a:srgbClr val="ECF2FF"/>
                </a:solidFill>
              </a:rPr>
              <a:t>github.com/kmylavarapu3/soccer-analytics-capstone-template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FC0C5"/>
                </a:solidFill>
              </a:defRPr>
            </a:pPr>
            <a:r>
              <a:rPr sz="1200">
                <a:solidFill>
                  <a:srgbClr val="ECF2FF"/>
                </a:solidFill>
              </a:rPr>
              <a:t>kmylavarapu3 | Georgia Tech MSA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sz="1200">
                <a:solidFill>
                  <a:srgbClr val="ECF2FF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