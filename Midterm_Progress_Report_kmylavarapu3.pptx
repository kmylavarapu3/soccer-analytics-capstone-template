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Midterm Progress Report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FC0C5"/>
                </a:solidFill>
              </a:defRPr>
            </a:pPr>
            <a:r>
              <a:rPr lang="en-US" dirty="0"/>
              <a:t>Karthik Mylavarapu 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FC0C5"/>
                </a:solidFill>
              </a:defRPr>
            </a:pPr>
            <a:r>
              <a:rPr lang="en-US" dirty="0"/>
              <a:t>kmylavarapu3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FC0C5"/>
                </a:solidFill>
              </a:defRPr>
            </a:pPr>
            <a:r>
              <a:rPr lang="en-US" dirty="0"/>
              <a:t>GT id : 903754308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FC0C5"/>
                </a:solidFill>
              </a:defRPr>
            </a:pPr>
            <a:r>
              <a:rPr dirty="0"/>
              <a:t>Soccer Analytics Capstone — Trilemma Foundation</a:t>
            </a:r>
            <a:br>
              <a:rPr dirty="0"/>
            </a:br>
            <a:r>
              <a:rPr dirty="0"/>
              <a:t>Georgia Tech MSA Spring 2026 Practicum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931920"/>
            <a:ext cx="3962095" cy="508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Goal: Build an open-source analytics pipeline that ingests public match event data and produces interactive player/team analytics dashboards.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Data Sources: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dirty="0"/>
              <a:t>  </a:t>
            </a:r>
            <a:r>
              <a:rPr dirty="0" err="1"/>
              <a:t>StatsBomb</a:t>
            </a:r>
            <a:r>
              <a:rPr dirty="0"/>
              <a:t>: 3,464 matches, 12.2M events across major European leagues (La Liga, Premier League, Serie A, Ligue 1, Bundesliga) and international competitions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dirty="0"/>
              <a:t>  </a:t>
            </a:r>
            <a:r>
              <a:rPr dirty="0" err="1"/>
              <a:t>Polymarket</a:t>
            </a:r>
            <a:r>
              <a:rPr dirty="0"/>
              <a:t>: 8,549 betting markets with $3B+ total trading volume, 1.1M individual trades spanning April 2025 — January 2026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Key Challenge: IDs are NOT normalized across datasets — </a:t>
            </a:r>
            <a:r>
              <a:rPr dirty="0" err="1"/>
              <a:t>StatsBomb</a:t>
            </a:r>
            <a:r>
              <a:rPr dirty="0"/>
              <a:t> team IDs do not map to </a:t>
            </a:r>
            <a:r>
              <a:rPr dirty="0" err="1"/>
              <a:t>Polymarket</a:t>
            </a:r>
            <a:r>
              <a:rPr dirty="0"/>
              <a:t> market slugs. Entity resolution is a critical early task.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Track Selected: Track 2 — Soccer Analytics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 Completed: Infrastructure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Repository Setup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Forked official template repo, installed all dependencies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Downloaded and organized both </a:t>
            </a:r>
            <a:r>
              <a:rPr sz="1600" dirty="0" err="1"/>
              <a:t>StatsBomb</a:t>
            </a:r>
            <a:r>
              <a:rPr sz="1600" dirty="0"/>
              <a:t> and </a:t>
            </a:r>
            <a:r>
              <a:rPr sz="1600" dirty="0" err="1"/>
              <a:t>Polymarket</a:t>
            </a:r>
            <a:r>
              <a:rPr sz="1600" dirty="0"/>
              <a:t> datasets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Verified data integrity with starter EDA template</a:t>
            </a:r>
            <a:endParaRPr sz="2000"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Custom Analytics Modules (3 Python modules, ~1,400 LOC)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</a:t>
            </a:r>
            <a:r>
              <a:rPr sz="1600" dirty="0" err="1"/>
              <a:t>entity_resolution.py</a:t>
            </a:r>
            <a:r>
              <a:rPr sz="1600" dirty="0"/>
              <a:t> — Fuzzy team name matching between </a:t>
            </a:r>
            <a:r>
              <a:rPr sz="1600" dirty="0" err="1"/>
              <a:t>StatsBomb</a:t>
            </a:r>
            <a:r>
              <a:rPr sz="1600" dirty="0"/>
              <a:t> and </a:t>
            </a:r>
            <a:r>
              <a:rPr sz="1600" dirty="0" err="1"/>
              <a:t>Polymarket</a:t>
            </a:r>
            <a:r>
              <a:rPr sz="1600" dirty="0"/>
              <a:t> (150+ teams mapped)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</a:t>
            </a:r>
            <a:r>
              <a:rPr sz="1600" dirty="0" err="1"/>
              <a:t>feature_engineering.py</a:t>
            </a:r>
            <a:r>
              <a:rPr sz="1600" dirty="0"/>
              <a:t> — Possession chain builder, </a:t>
            </a:r>
            <a:r>
              <a:rPr sz="1600" dirty="0" err="1"/>
              <a:t>xG</a:t>
            </a:r>
            <a:r>
              <a:rPr sz="1600" dirty="0"/>
              <a:t> flow, PPDA, Field Tilt, Expected Threat (</a:t>
            </a:r>
            <a:r>
              <a:rPr sz="1600" dirty="0" err="1"/>
              <a:t>xT</a:t>
            </a:r>
            <a:r>
              <a:rPr sz="1600" dirty="0"/>
              <a:t>), team style classifier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</a:t>
            </a:r>
            <a:r>
              <a:rPr sz="1600" dirty="0" err="1"/>
              <a:t>market_analysis.py</a:t>
            </a:r>
            <a:r>
              <a:rPr sz="1600" dirty="0"/>
              <a:t> — Market efficiency metrics, volume analysis, odds volatility, competition breakdown</a:t>
            </a:r>
            <a:endParaRPr sz="2000"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Enhanced Dashboard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Extended template with Top Players by </a:t>
            </a:r>
            <a:r>
              <a:rPr sz="1600" dirty="0" err="1"/>
              <a:t>xG</a:t>
            </a:r>
            <a:r>
              <a:rPr sz="1600" dirty="0"/>
              <a:t> and Most Active Players charts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Updated footer and branding for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 Completed: EDA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StatsBomb Event Analysis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Pass completion rate: 77.7% overall — uniform across competitions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88,023 shots with xG data; mean xG per shot = 0.10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Average 2.85 goals per match; La Liga shows highest scoring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Messi leads with 363.4 cumulative xG from 2,670 shots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Polymarket Market Analysis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Champions League Winner markets: &gt;$1B volume (33% of total)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Trading peaks during European evening hours (17:00–22:00 UTC)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Buy/Sell ratio: 82% BUY vs 18% SELL — strong bullish sentiment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Only 38% of markets have any trade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 Completed: Predictive Modeling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000" dirty="0"/>
              <a:t>Research Question: Does event-level shot quality predict match outcomes?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000" dirty="0"/>
              <a:t>Model: OLS regression — </a:t>
            </a:r>
            <a:r>
              <a:rPr sz="2000" dirty="0" err="1"/>
              <a:t>goal_diff</a:t>
            </a:r>
            <a:r>
              <a:rPr sz="2000" dirty="0"/>
              <a:t> ~ </a:t>
            </a:r>
            <a:r>
              <a:rPr sz="2000" dirty="0" err="1"/>
              <a:t>xg_diff</a:t>
            </a:r>
            <a:endParaRPr sz="2000" dirty="0"/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</a:t>
            </a:r>
            <a:r>
              <a:rPr sz="1400" dirty="0" err="1"/>
              <a:t>goal_diff</a:t>
            </a:r>
            <a:r>
              <a:rPr sz="1400" dirty="0"/>
              <a:t> = </a:t>
            </a:r>
            <a:r>
              <a:rPr sz="1400" dirty="0" err="1"/>
              <a:t>home_score</a:t>
            </a:r>
            <a:r>
              <a:rPr sz="1400" dirty="0"/>
              <a:t> − </a:t>
            </a:r>
            <a:r>
              <a:rPr sz="1400" dirty="0" err="1"/>
              <a:t>away_score</a:t>
            </a:r>
            <a:endParaRPr sz="1400" dirty="0"/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</a:t>
            </a:r>
            <a:r>
              <a:rPr sz="1400" dirty="0" err="1"/>
              <a:t>xg_diff</a:t>
            </a:r>
            <a:r>
              <a:rPr sz="1400" dirty="0"/>
              <a:t> = </a:t>
            </a:r>
            <a:r>
              <a:rPr sz="1400" dirty="0" err="1"/>
              <a:t>home_xG</a:t>
            </a:r>
            <a:r>
              <a:rPr sz="1400" dirty="0"/>
              <a:t> − </a:t>
            </a:r>
            <a:r>
              <a:rPr sz="1400" dirty="0" err="1"/>
              <a:t>away_xG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000" dirty="0"/>
              <a:t>Results (</a:t>
            </a:r>
            <a:r>
              <a:rPr lang="en-US" sz="2000" dirty="0"/>
              <a:t>3</a:t>
            </a:r>
            <a:r>
              <a:rPr sz="2000" dirty="0"/>
              <a:t>,457 matches):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Slope = 1.055 — each unit of </a:t>
            </a:r>
            <a:r>
              <a:rPr sz="1400" dirty="0" err="1"/>
              <a:t>xG</a:t>
            </a:r>
            <a:r>
              <a:rPr sz="1400" dirty="0"/>
              <a:t> advantage translates to ~1 goal advantage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R² = 0.475 — </a:t>
            </a:r>
            <a:r>
              <a:rPr sz="1400" dirty="0" err="1"/>
              <a:t>xG</a:t>
            </a:r>
            <a:r>
              <a:rPr sz="1400" dirty="0"/>
              <a:t> differential explains 47.5% of variance in actual goal differential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Intercept ≈ 0.045 — minimal home advantage effect in </a:t>
            </a:r>
            <a:r>
              <a:rPr sz="1400" dirty="0" err="1"/>
              <a:t>xG</a:t>
            </a:r>
            <a:r>
              <a:rPr sz="1400" dirty="0"/>
              <a:t>-adjusted model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lang="en-US" sz="2000" dirty="0"/>
              <a:t>In</a:t>
            </a:r>
            <a:r>
              <a:rPr sz="2000" dirty="0"/>
              <a:t>terpretation: A single feature derived entirely from event data explains nearly half of outcome variance. This validates </a:t>
            </a:r>
            <a:r>
              <a:rPr sz="2000" dirty="0" err="1"/>
              <a:t>xG</a:t>
            </a:r>
            <a:r>
              <a:rPr sz="2000" dirty="0"/>
              <a:t>-based features as a foundation for dashboard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 Completed: Advanced Metrics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Possession Chains — sequence of events by same team until turnover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Segments matches into possession sequences with chain-level summaries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PPDA (Passes Per Defensive Action) — measures pressing intensity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Lower PPDA = more intense pressing (High &lt; 10, Medium 10–15, Low &gt; 15)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Field Tilt — territorial dominance via final-third passing share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Percentage of total final-third passes belonging to each team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Expected Threat (xT) — positional value using 12×8 grid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Pre-computed threat values increase toward opponent's goal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Team Style Classifier — categorizes teams as Possession-based, High-pressing, Counter-attacking, or Balanced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t>  Based on pass completion, chain length, and high recovery percentage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 Completed: Entity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Challenge: </a:t>
            </a:r>
            <a:r>
              <a:rPr sz="2400" dirty="0" err="1"/>
              <a:t>StatsBomb</a:t>
            </a:r>
            <a:r>
              <a:rPr sz="2400" dirty="0"/>
              <a:t> and </a:t>
            </a:r>
            <a:r>
              <a:rPr sz="2400" dirty="0" err="1"/>
              <a:t>Polymarket</a:t>
            </a:r>
            <a:r>
              <a:rPr sz="2400" dirty="0"/>
              <a:t> use different team identifiers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e.g., "Arsenal FC" (</a:t>
            </a:r>
            <a:r>
              <a:rPr sz="1400" dirty="0" err="1"/>
              <a:t>StatsBomb</a:t>
            </a:r>
            <a:r>
              <a:rPr sz="1400" dirty="0"/>
              <a:t>) vs "arsenal" (</a:t>
            </a:r>
            <a:r>
              <a:rPr sz="1400" dirty="0" err="1"/>
              <a:t>Polymarket</a:t>
            </a:r>
            <a:r>
              <a:rPr sz="1400" dirty="0"/>
              <a:t> slug)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Approach: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Name normalization — remove common suffixes (FC, CF, SC), normalize punctuation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Team extraction from </a:t>
            </a:r>
            <a:r>
              <a:rPr sz="1400" dirty="0" err="1"/>
              <a:t>Polymarket</a:t>
            </a:r>
            <a:r>
              <a:rPr sz="1400" dirty="0"/>
              <a:t> questions — regex pattern matching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Fuzzy matching — token overlap (Jaccard similarity) with configurable threshold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Manual overrides for known mappings (15 major clubs)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Resu</a:t>
            </a:r>
            <a:r>
              <a:rPr lang="en-US" sz="2400" dirty="0"/>
              <a:t>l</a:t>
            </a:r>
            <a:r>
              <a:rPr sz="2400" dirty="0"/>
              <a:t>ts: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308 unique </a:t>
            </a:r>
            <a:r>
              <a:rPr sz="1400" dirty="0" err="1"/>
              <a:t>StatsBomb</a:t>
            </a:r>
            <a:r>
              <a:rPr sz="1400" dirty="0"/>
              <a:t> teams identified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1,863 unique </a:t>
            </a:r>
            <a:r>
              <a:rPr sz="1400" dirty="0" err="1"/>
              <a:t>Polymarket</a:t>
            </a:r>
            <a:r>
              <a:rPr sz="1400" dirty="0"/>
              <a:t> team mentions extracted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1,699 fuzzy match mappings generated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400" dirty="0"/>
              <a:t>  Coverage: major European clubs well-covered; smaller/non-European clubs limited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Plan: Remaining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1. Dashboard Development (Primary Deliverable)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Interactive Dash application with </a:t>
            </a:r>
            <a:r>
              <a:rPr sz="1600" dirty="0" err="1"/>
              <a:t>xG</a:t>
            </a:r>
            <a:r>
              <a:rPr sz="1600" dirty="0"/>
              <a:t> flow visualization for individual matches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Team style comparison views (radar charts, scatter plots)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Player performance analytics (heatmaps, pass networks, </a:t>
            </a:r>
            <a:r>
              <a:rPr sz="1600" dirty="0" err="1"/>
              <a:t>xG</a:t>
            </a:r>
            <a:r>
              <a:rPr sz="1600" dirty="0"/>
              <a:t> leaders)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Competition-level tactical metrics explorer (PPDA, Field Tilt across seasons)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2. Multi-Feature Predictive Modeling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Extend baseline OLS model with PPDA, field tilt, pressure events, carry distance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Forward feature selection to identify most informative event metrics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Test temporal stability — do coefficients hold across seasons/competitions?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3. Market Comparison Analysis (Optional/Stretch)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For matches with </a:t>
            </a:r>
            <a:r>
              <a:rPr sz="1600" dirty="0" err="1"/>
              <a:t>Polymarket</a:t>
            </a:r>
            <a:r>
              <a:rPr sz="1600" dirty="0"/>
              <a:t> coverage, compare model-implied probabilities vs. market odds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600" dirty="0"/>
              <a:t>  Identify potential market inefficiencies around key events (goals, red cards)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Timeline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Completed (Weeks 1–6)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Data pipeline setup and validation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Entity resolution module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Feature engineering pipeline (PPDA, </a:t>
            </a:r>
            <a:r>
              <a:rPr sz="1000" dirty="0" err="1"/>
              <a:t>xG</a:t>
            </a:r>
            <a:r>
              <a:rPr sz="1000" dirty="0"/>
              <a:t> flow, Field Tilt, </a:t>
            </a:r>
            <a:r>
              <a:rPr sz="1000" dirty="0" err="1"/>
              <a:t>xT</a:t>
            </a:r>
            <a:r>
              <a:rPr sz="1000" dirty="0"/>
              <a:t>, team styles)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Market analysis module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EDA deliverables (Executive + Technical notebooks)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Baseline predictive model (R² = 0.475)</a:t>
            </a:r>
            <a:endParaRPr sz="2000"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In Progress (Weeks 7–10)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Interactive dashboard — core views and filtering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Multi-feature modeling and evaluation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Documentation and README updates</a:t>
            </a:r>
            <a:endParaRPr sz="2000"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sz="2400" dirty="0"/>
              <a:t>Planned (Weeks 11–14)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Dashboard polish — responsive design, deployment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Market comparison analysis (if time permits)</a:t>
            </a:r>
          </a:p>
          <a:p>
            <a:pPr lvl="1">
              <a:spcBef>
                <a:spcPts val="1200"/>
              </a:spcBef>
              <a:defRPr sz="1800">
                <a:solidFill>
                  <a:srgbClr val="BFC0C5"/>
                </a:solidFill>
              </a:defRPr>
            </a:pPr>
            <a:r>
              <a:rPr sz="1000" dirty="0"/>
              <a:t>  Final report and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FC0C5"/>
                </a:solidFill>
              </a:defRPr>
            </a:pPr>
            <a:r>
              <a:t>Repository: github.com/kmylavarapu3/soccer-analytics-capstone-template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931920"/>
            <a:ext cx="3962095" cy="50800"/>
          </a:xfrm>
          <a:prstGeom prst="rect">
            <a:avLst/>
          </a:prstGeom>
          <a:solidFill>
            <a:srgbClr val="F49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1028</Words>
  <Application>Microsoft Macintosh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 Mylavarapu</cp:lastModifiedBy>
  <cp:revision>2</cp:revision>
  <dcterms:created xsi:type="dcterms:W3CDTF">2013-01-27T09:14:16Z</dcterms:created>
  <dcterms:modified xsi:type="dcterms:W3CDTF">2026-03-01T22:09:48Z</dcterms:modified>
  <cp:category/>
</cp:coreProperties>
</file>